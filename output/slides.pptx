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シーン1：概要パート（0:00〜1:00）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シーン2：汎用AIと自前モデルは何が違うのか（1:00〜2:30）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シーン3：差別化になるのはどちらか（2:30〜3:45）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シーン4：学習フェーズと推論フェーズという分業（3:45〜4:45）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シーン5：モデルの正体＝アルゴリズム＋重み（4:45〜6:00）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シーン6：前処理の実装〜ColumnTransformerの重要性（6:00〜7:30）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シーン7：出力の数値は何を意味するか（7:30〜8:30）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シーン8：トレーニングの正しいイメージと5つのレバー（8:30〜9:30）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シーン9：データ改善で精度は本当に上がるのか（9:30〜10:30）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シーン10：まとめ（10:30〜11:00）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解説動画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VOICEVOX解説動画 スライド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なぜ今、機械学習を学ぶのか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汎用AIがあるのに機械学習を学ぶ意義を解説</a:t>
            </a:r>
          </a:p>
          <a:p>
            <a:pPr>
              <a:defRPr sz="2200"/>
            </a:pPr>
            <a:r>
              <a:t>自前モデルとビジネス差別化の関係</a:t>
            </a:r>
          </a:p>
          <a:p>
            <a:pPr>
              <a:defRPr sz="2200"/>
            </a:pPr>
            <a:r>
              <a:t>学習済みモデルの中身とは何か</a:t>
            </a:r>
          </a:p>
          <a:p>
            <a:pPr>
              <a:defRPr sz="2200"/>
            </a:pPr>
            <a:r>
              <a:t>出力される数値の意味と精度改善のポイント</a:t>
            </a:r>
          </a:p>
          <a:p>
            <a:pPr>
              <a:defRPr sz="2200"/>
            </a:pPr>
            <a:r>
              <a:t>実務に近いTitanicデータセットで実演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汎用AIは「借りている」状態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提供会社が事前学習を実施、利用者は推論のみ</a:t>
            </a:r>
          </a:p>
          <a:p>
            <a:pPr>
              <a:defRPr sz="2200"/>
            </a:pPr>
            <a:r>
              <a:t>汎用AI：開発コスト低いが継続課金・応答遅め</a:t>
            </a:r>
          </a:p>
          <a:p>
            <a:pPr>
              <a:defRPr sz="2200"/>
            </a:pPr>
            <a:r>
              <a:t>自前モデル：学習コスト高いが推論は高速・低コスト</a:t>
            </a:r>
          </a:p>
          <a:p>
            <a:pPr>
              <a:defRPr sz="2200"/>
            </a:pPr>
            <a:r>
              <a:t>外部送信前提の汎用AI vs 自社完結の自前モデル</a:t>
            </a:r>
          </a:p>
          <a:p>
            <a:pPr>
              <a:defRPr sz="2200"/>
            </a:pPr>
            <a:r>
              <a:t>説明可能性はシンプルなモデルの方が高い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差別化になるのはどちらか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汎用AIをそのまま使うだけでは差別化になりにくい</a:t>
            </a:r>
          </a:p>
          <a:p>
            <a:pPr>
              <a:defRPr sz="2200"/>
            </a:pPr>
            <a:r>
              <a:t>自社モデルは同質・同量データの模倣が必要で優位性になる</a:t>
            </a:r>
          </a:p>
          <a:p>
            <a:pPr>
              <a:defRPr sz="2200"/>
            </a:pPr>
            <a:r>
              <a:t>ただしLLM進化により優位性は縮まりやすい</a:t>
            </a:r>
          </a:p>
          <a:p>
            <a:pPr>
              <a:defRPr sz="2200"/>
            </a:pPr>
            <a:r>
              <a:t>差別化の4本柱：独自データ・ドメイン特化・併用・再学習体制</a:t>
            </a:r>
          </a:p>
          <a:p>
            <a:pPr>
              <a:defRPr sz="2200"/>
            </a:pPr>
            <a:r>
              <a:t>併用アーキテクチャ：前処理はAI、最終判定は自前モデル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学習フェーズと推論フェーズ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機械学習は「学習」と「推論」の2工程に分かれる</a:t>
            </a:r>
          </a:p>
          <a:p>
            <a:pPr>
              <a:defRPr sz="2200"/>
            </a:pPr>
            <a:r>
              <a:t>学習は事前に1回〜定期的に実施</a:t>
            </a:r>
          </a:p>
          <a:p>
            <a:pPr>
              <a:defRPr sz="2200"/>
            </a:pPr>
            <a:r>
              <a:t>学習結果はmodel.pklなどのファイルに保存</a:t>
            </a:r>
          </a:p>
          <a:p>
            <a:pPr>
              <a:defRPr sz="2200"/>
            </a:pPr>
            <a:r>
              <a:t>アプリは推論のたびにファイルを読み込むだけ</a:t>
            </a:r>
          </a:p>
          <a:p>
            <a:pPr>
              <a:defRPr sz="2200"/>
            </a:pPr>
            <a:r>
              <a:t>学習し直さず使い回す分業構造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モデルの正体＝アルゴリズム＋重み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モデルはアルゴリズムの箱と学習済み重みの組み合わせ</a:t>
            </a:r>
          </a:p>
          <a:p>
            <a:pPr>
              <a:defRPr sz="2200"/>
            </a:pPr>
            <a:r>
              <a:t>fit()実行前は空の箱、実行後が学習済みモデル</a:t>
            </a:r>
          </a:p>
          <a:p>
            <a:pPr>
              <a:defRPr sz="2200"/>
            </a:pPr>
            <a:r>
              <a:t>重みは人間が書き込まず、データから自動計算</a:t>
            </a:r>
          </a:p>
          <a:p>
            <a:pPr>
              <a:defRPr sz="2200"/>
            </a:pPr>
            <a:r>
              <a:t>Titanicデータにはage・embarkedなど欠損値がある</a:t>
            </a:r>
          </a:p>
          <a:p>
            <a:pPr>
              <a:defRPr sz="2200"/>
            </a:pPr>
            <a:r>
              <a:t>文字列のカテゴリ変数はそのままモデルに渡せない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前処理とColumnTransformer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数値列：欠損値を中央値で補完しスケールを標準化</a:t>
            </a:r>
          </a:p>
          <a:p>
            <a:pPr>
              <a:defRPr sz="2200"/>
            </a:pPr>
            <a:r>
              <a:t>カテゴリ列：欠損値を最頻値で補完しOne-Hot変換</a:t>
            </a:r>
          </a:p>
          <a:p>
            <a:pPr>
              <a:defRPr sz="2200"/>
            </a:pPr>
            <a:r>
              <a:t>ColumnTransformerで列ごとの処理を1つにまとめる</a:t>
            </a:r>
          </a:p>
          <a:p>
            <a:pPr>
              <a:defRPr sz="2200"/>
            </a:pPr>
            <a:r>
              <a:t>個別実装だとテスト側でfit_transformを誤用しやすい</a:t>
            </a:r>
          </a:p>
          <a:p>
            <a:pPr>
              <a:defRPr sz="2200"/>
            </a:pPr>
            <a:r>
              <a:t>誤用するとデータリークで評価結果が不当に良く見える</a:t>
            </a:r>
          </a:p>
          <a:p>
            <a:pPr>
              <a:defRPr sz="2200"/>
            </a:pPr>
            <a:r>
              <a:t>Pipelineでまとめれば学習・推論の前処理が自動で一貫する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出力される数値の意味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二値分類の出力は0〜1の確率</a:t>
            </a:r>
          </a:p>
          <a:p>
            <a:pPr>
              <a:defRPr sz="2200"/>
            </a:pPr>
            <a:r>
              <a:t>predict_probaは[クラス0の確率, クラス1の確率]のペア</a:t>
            </a:r>
          </a:p>
          <a:p>
            <a:pPr>
              <a:defRPr sz="2200"/>
            </a:pPr>
            <a:r>
              <a:t>架空の乗客で65%の確率で生存と予測された例</a:t>
            </a:r>
          </a:p>
          <a:p>
            <a:pPr>
              <a:defRPr sz="2200"/>
            </a:pPr>
            <a:r>
              <a:t>閾値（多くは0.5）を境にクラスを判定</a:t>
            </a:r>
          </a:p>
          <a:p>
            <a:pPr>
              <a:defRPr sz="2200"/>
            </a:pPr>
            <a:r>
              <a:t>閾値は誤検知と見逃しのバランスで調整可能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トレーニングの正しいイメージ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人間が確率を手動調整するのは誤解</a:t>
            </a:r>
          </a:p>
          <a:p>
            <a:pPr>
              <a:defRPr sz="2200"/>
            </a:pPr>
            <a:r>
              <a:t>実際は誤差計算→重み自動更新の繰り返し</a:t>
            </a:r>
          </a:p>
          <a:p>
            <a:pPr>
              <a:defRPr sz="2200"/>
            </a:pPr>
            <a:r>
              <a:t>人間が触るのはハイパーパラメータ（学習率・木の深さ等）</a:t>
            </a:r>
          </a:p>
          <a:p>
            <a:pPr>
              <a:defRPr sz="2200"/>
            </a:pPr>
            <a:r>
              <a:t>パラメータは学習で自動決定、ハイパーパラメータは人間が事前設定</a:t>
            </a:r>
          </a:p>
          <a:p>
            <a:pPr>
              <a:defRPr sz="2200"/>
            </a:pPr>
            <a:r>
              <a:t>人間が操れる5レバー：データ・アルゴリズム・ハイパーパラメータ・評価反復・出力の使い方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データ改善とパターン学習は別プロセス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敬称や家族構成の気づきは人間による特徴量エンジニアリング</a:t>
            </a:r>
          </a:p>
          <a:p>
            <a:pPr>
              <a:defRPr sz="2200"/>
            </a:pPr>
            <a:r>
              <a:t>モデルが自ら気づくわけではない</a:t>
            </a:r>
          </a:p>
          <a:p>
            <a:pPr>
              <a:defRPr sz="2200"/>
            </a:pPr>
            <a:r>
              <a:t>改善データで再学習して初めてパターン学習が起こる</a:t>
            </a:r>
          </a:p>
          <a:p>
            <a:pPr>
              <a:defRPr sz="2200"/>
            </a:pPr>
            <a:r>
              <a:t>精度は0.79から0.83に改善した実例</a:t>
            </a:r>
          </a:p>
          <a:p>
            <a:pPr>
              <a:defRPr sz="2200"/>
            </a:pPr>
            <a:r>
              <a:t>データが8割・モデルが2割、データ改善が最優先</a:t>
            </a:r>
          </a:p>
          <a:p>
            <a:pPr>
              <a:defRPr sz="2200"/>
            </a:pPr>
            <a:r>
              <a:t>データ不足で複雑なモデルを使うと過学習のリスク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汎用AIは借り物、自前モデルこそ模倣されにくい資産になる</a:t>
            </a:r>
          </a:p>
          <a:p>
            <a:pPr>
              <a:defRPr sz="2200"/>
            </a:pPr>
            <a:r>
              <a:t>モデル＝アルゴリズム＋学習で決まった重み</a:t>
            </a:r>
          </a:p>
          <a:p>
            <a:pPr>
              <a:defRPr sz="2200"/>
            </a:pPr>
            <a:r>
              <a:t>出力の意味はタスクの種類（二値分類なら確率）で変わる</a:t>
            </a:r>
          </a:p>
          <a:p>
            <a:pPr>
              <a:defRPr sz="2200"/>
            </a:pPr>
            <a:r>
              <a:t>トレーニングは誤差を減らす自動更新であり手動調整ではない</a:t>
            </a:r>
          </a:p>
          <a:p>
            <a:pPr>
              <a:defRPr sz="2200"/>
            </a:pPr>
            <a:r>
              <a:t>精度向上は「データ→モデル→ハイパーパラメータ」の順で検討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